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traffic</c:v>
                </c:pt>
              </c:strCache>
            </c:strRef>
          </c:tx>
          <c:spPr>
            <a:solidFill>
              <a:srgbClr val="C65A3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ATL</c:v>
                </c:pt>
                <c:pt idx="1">
                  <c:v>ORD</c:v>
                </c:pt>
                <c:pt idx="2">
                  <c:v>DFW</c:v>
                </c:pt>
                <c:pt idx="3">
                  <c:v>DEN</c:v>
                </c:pt>
                <c:pt idx="4">
                  <c:v>LAX</c:v>
                </c:pt>
                <c:pt idx="5">
                  <c:v>PHX</c:v>
                </c:pt>
                <c:pt idx="6">
                  <c:v>IAH</c:v>
                </c:pt>
                <c:pt idx="7">
                  <c:v>SFO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7806532</c:v>
                </c:pt>
                <c:pt idx="1">
                  <c:v>6002657</c:v>
                </c:pt>
                <c:pt idx="2">
                  <c:v>5092125</c:v>
                </c:pt>
                <c:pt idx="3">
                  <c:v>4601006</c:v>
                </c:pt>
                <c:pt idx="4">
                  <c:v>4267091</c:v>
                </c:pt>
                <c:pt idx="5">
                  <c:v>3441202</c:v>
                </c:pt>
                <c:pt idx="6">
                  <c:v>3344332</c:v>
                </c:pt>
                <c:pt idx="7">
                  <c:v>3226077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ED-4A0A-B230-C8169957CB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departure delay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ACV</c:v>
                </c:pt>
                <c:pt idx="1">
                  <c:v>TTN</c:v>
                </c:pt>
                <c:pt idx="2">
                  <c:v>EWR</c:v>
                </c:pt>
                <c:pt idx="3">
                  <c:v>MDW</c:v>
                </c:pt>
                <c:pt idx="4">
                  <c:v>RDD</c:v>
                </c:pt>
                <c:pt idx="5">
                  <c:v>ASE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17.66</c:v>
                </c:pt>
                <c:pt idx="1">
                  <c:v>15.5</c:v>
                </c:pt>
                <c:pt idx="2">
                  <c:v>14.38</c:v>
                </c:pt>
                <c:pt idx="3">
                  <c:v>13.07</c:v>
                </c:pt>
                <c:pt idx="4">
                  <c:v>12.97</c:v>
                </c:pt>
                <c:pt idx="5">
                  <c:v>12.68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80-40FB-9084-022F83B24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fare</c:v>
                </c:pt>
              </c:strCache>
            </c:strRef>
          </c:tx>
          <c:spPr>
            <a:ln w="25400" cap="flat">
              <a:solidFill>
                <a:srgbClr val="C65A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5A3A"/>
              </a:solidFill>
              <a:ln w="9525" cap="flat">
                <a:solidFill>
                  <a:srgbClr val="C65A3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424.25</c:v>
                </c:pt>
                <c:pt idx="1">
                  <c:v>376.53</c:v>
                </c:pt>
                <c:pt idx="2">
                  <c:v>402.62</c:v>
                </c:pt>
                <c:pt idx="3">
                  <c:v>433.65</c:v>
                </c:pt>
                <c:pt idx="4">
                  <c:v>451.72</c:v>
                </c:pt>
                <c:pt idx="5">
                  <c:v>460.44</c:v>
                </c:pt>
                <c:pt idx="6">
                  <c:v>467.41</c:v>
                </c:pt>
                <c:pt idx="7">
                  <c:v>448.69</c:v>
                </c:pt>
                <c:pt idx="8">
                  <c:v>425.57</c:v>
                </c:pt>
                <c:pt idx="9">
                  <c:v>419.17</c:v>
                </c:pt>
                <c:pt idx="10">
                  <c:v>375.28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C4-41B7-8C84-3591430A3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average fare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429.41</c:v>
                </c:pt>
                <c:pt idx="1">
                  <c:v>436.43</c:v>
                </c:pt>
                <c:pt idx="2">
                  <c:v>429.48</c:v>
                </c:pt>
                <c:pt idx="3">
                  <c:v>425.92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E-4AB7-BC7B-008BC75BF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weather delay</c:v>
                </c:pt>
              </c:strCache>
            </c:strRef>
          </c:tx>
          <c:spPr>
            <a:solidFill>
              <a:srgbClr val="B455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ABI</c:v>
                </c:pt>
                <c:pt idx="1">
                  <c:v>SIT</c:v>
                </c:pt>
                <c:pt idx="2">
                  <c:v>ROW</c:v>
                </c:pt>
                <c:pt idx="3">
                  <c:v>CMI</c:v>
                </c:pt>
                <c:pt idx="4">
                  <c:v>EGE</c:v>
                </c:pt>
                <c:pt idx="5">
                  <c:v>LCH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11.39</c:v>
                </c:pt>
                <c:pt idx="1">
                  <c:v>8.2799999999999994</c:v>
                </c:pt>
                <c:pt idx="2">
                  <c:v>7.71</c:v>
                </c:pt>
                <c:pt idx="3">
                  <c:v>7.51</c:v>
                </c:pt>
                <c:pt idx="4">
                  <c:v>7.31</c:v>
                </c:pt>
                <c:pt idx="5">
                  <c:v>6.61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4F-4A79-A350-10BCF7A51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56B5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Delay causes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5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FD-47AD-9A70-1A84D773312C}"/>
              </c:ext>
            </c:extLst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FD-47AD-9A70-1A84D773312C}"/>
              </c:ext>
            </c:extLst>
          </c:dPt>
          <c:dPt>
            <c:idx val="2"/>
            <c:bubble3D val="0"/>
            <c:spPr>
              <a:solidFill>
                <a:srgbClr val="5B8C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FD-47AD-9A70-1A84D773312C}"/>
              </c:ext>
            </c:extLst>
          </c:dPt>
          <c:dPt>
            <c:idx val="3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FD-47AD-9A70-1A84D773312C}"/>
              </c:ext>
            </c:extLst>
          </c:dPt>
          <c:dPt>
            <c:idx val="4"/>
            <c:bubble3D val="0"/>
            <c:spPr>
              <a:solidFill>
                <a:srgbClr val="6B4E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5FD-47AD-9A70-1A84D773312C}"/>
              </c:ext>
            </c:extLst>
          </c:dPt>
          <c:cat>
            <c:strRef>
              <c:f>Sheet1!$A$2:$A$6</c:f>
              <c:strCache>
                <c:ptCount val="5"/>
                <c:pt idx="0">
                  <c:v>Carrier</c:v>
                </c:pt>
                <c:pt idx="1">
                  <c:v>Weather</c:v>
                </c:pt>
                <c:pt idx="2">
                  <c:v>NAS</c:v>
                </c:pt>
                <c:pt idx="3">
                  <c:v>Security</c:v>
                </c:pt>
                <c:pt idx="4">
                  <c:v>Late Aircraft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17.82</c:v>
                </c:pt>
                <c:pt idx="1">
                  <c:v>2.66</c:v>
                </c:pt>
                <c:pt idx="2">
                  <c:v>14.4</c:v>
                </c:pt>
                <c:pt idx="3">
                  <c:v>0.08</c:v>
                </c:pt>
                <c:pt idx="4">
                  <c:v>23.28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5FD-47AD-9A70-1A84D7733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53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8C5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6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603 · Big Data Platforms · Flight Airline Industry Predictive Modeling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Sky Sense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7007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5A3A"/>
                </a:solidFill>
              </a:rPr>
              <a:t>Flight Intelligence Platform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267712"/>
            <a:ext cx="3452553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</a:rPr>
              <a:t>A big-data predictive modeling project for delay risk, fare behavior, weather impact, and itinerary recommendation.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59436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B5E"/>
                </a:solidFill>
              </a:rPr>
              <a:t>DATA 603 · Platforms for Big Data Processing · Spring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06840" y="5888736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FINAL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DE853C-9640-7486-B32B-62462AEE6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285" y="1454952"/>
            <a:ext cx="7790351" cy="3702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project had to deliver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Mapping the professor’s requirements to our final package.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256032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21.2GB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1956816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Full local data processed with Spark; sample only included for submission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3246120" y="1481328"/>
            <a:ext cx="256032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19272" y="1956816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Major airports in the app RDD/network; broader output covers hundreds of airports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5897880" y="1481328"/>
            <a:ext cx="256032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B4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10+ yrs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71032" y="1956816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Historical delay/fare/weather data window used for aggregate trends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8549640" y="1481328"/>
            <a:ext cx="256032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B8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22792" y="1956816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Pipeline stages from Spark processing to Flask web demo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777239" y="2880360"/>
            <a:ext cx="101586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Search origin, destination, and travel date in the web app demo.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Return expected delays, price fluctuation estimate, recommendations, and final advice.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Show busiest airports, departure/arrival delays, fare trends, weather risk, and best value airports.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Use historical data only; no randomly generated flight data.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144768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A8B78"/>
                </a:solidFill>
              </a:rPr>
              <a:t>Submission includes slides, project source code, sample data, README.txt, processed outputs, and the web app files.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scope and 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Large-scale historical data was reduced into clean Spark outputs for the app.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491740"/>
            <a:ext cx="2286000" cy="77724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Flight delay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BTS / DOT style CSVs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2491740"/>
            <a:ext cx="2286000" cy="77724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Fare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Airfare by year/quarter/origin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491740"/>
            <a:ext cx="2286000" cy="77724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Weather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NOAA station and delay signals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35440" y="2491740"/>
            <a:ext cx="2286000" cy="77724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Historical outputs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Processed CSV + 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875788"/>
            <a:ext cx="45720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897880" y="2875788"/>
            <a:ext cx="45720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732520" y="2875788"/>
            <a:ext cx="45720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3000" y="4000500"/>
            <a:ext cx="210312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131.3M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6152" y="4475988"/>
            <a:ext cx="1956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fare records processed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3611880" y="4000500"/>
            <a:ext cx="210312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85032" y="4475988"/>
            <a:ext cx="1956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major airports in web app network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080760" y="4000500"/>
            <a:ext cx="23774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B8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53912" y="4475988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route-carrier combinations loaded into app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8869680" y="4000500"/>
            <a:ext cx="219456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B4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$430.37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42832" y="4475988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overall historical average fare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929640" y="5619865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3"/>
                </a:solidFill>
              </a:rPr>
              <a:t>The sample </a:t>
            </a:r>
            <a:r>
              <a:rPr lang="en-US" sz="1100">
                <a:solidFill>
                  <a:srgbClr val="1F2933"/>
                </a:solidFill>
              </a:rPr>
              <a:t>dataset has </a:t>
            </a:r>
            <a:r>
              <a:rPr lang="en-US" sz="1100" dirty="0">
                <a:solidFill>
                  <a:srgbClr val="1F2933"/>
                </a:solidFill>
              </a:rPr>
              <a:t>been uploaded that contains small samples plus processed outputs.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How the project turns 21.2GB of raw data into a usable flight recommendation tool.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PIPELINE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48840" y="2788920"/>
            <a:ext cx="91440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0" y="2788920"/>
            <a:ext cx="91440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95160" y="2788920"/>
            <a:ext cx="91440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418320" y="2788920"/>
            <a:ext cx="86868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1554480" cy="109728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Raw CSVs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Delays · Fares · Weather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2240280"/>
            <a:ext cx="1691640" cy="1097280"/>
          </a:xfrm>
          <a:prstGeom prst="rect">
            <a:avLst/>
          </a:prstGeom>
          <a:solidFill>
            <a:srgbClr val="F7E2D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5A3A"/>
                </a:solidFill>
              </a:rPr>
              <a:t>Apache Spark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65A3A"/>
                </a:solidFill>
              </a:rPr>
              <a:t>RDD + DataFrames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2240280"/>
            <a:ext cx="1691640" cy="109728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Processed outputs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CSV + metrics JSON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2240280"/>
            <a:ext cx="1783080" cy="1097280"/>
          </a:xfrm>
          <a:prstGeom prst="rect">
            <a:avLst/>
          </a:prstGeom>
          <a:solidFill>
            <a:srgbClr val="E3F3EE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</a:rPr>
              <a:t>Model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</a:rPr>
              <a:t>Spark ML + rules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04120" y="2240280"/>
            <a:ext cx="1691640" cy="1097280"/>
          </a:xfrm>
          <a:prstGeom prst="rect">
            <a:avLst/>
          </a:prstGeom>
          <a:solidFill>
            <a:srgbClr val="FFF7DD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E3D"/>
                </a:solidFill>
              </a:rPr>
              <a:t>Web 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B4E3D"/>
                </a:solidFill>
              </a:rPr>
              <a:t>Flask + HTML + results.json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103327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Spark handles the heavy processing; the web app loads only aggregated results.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results.json acts as the bridge between back-end analysis and front-end demo.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This design keeps the demo fast while preserving the big-data pipeline behind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Steps 1–2: Airports and Delay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First, identify the airport network; then calculate the delay story.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SPARK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busiest airport by total traffic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201168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7.8M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16352" y="1847088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combined departures + arrivals</a:t>
            </a:r>
            <a:endParaRPr lang="en-US" sz="77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85800" y="2788920"/>
          <a:ext cx="50749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6492240" y="2788920"/>
          <a:ext cx="48006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7772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</a:rPr>
              <a:t>Busiest airports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583680" y="24505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</a:rPr>
              <a:t>Top departure delay airports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Fare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Historical fare data was cleaned, aggregated, and connected to the app recommendation logic.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FARES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1508760"/>
          <a:ext cx="55321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812280" y="1508760"/>
          <a:ext cx="43891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68680" y="5468112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$430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41832" y="5943600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overall average fare</a:t>
            </a:r>
            <a:endParaRPr lang="en-US" sz="770" dirty="0"/>
          </a:p>
        </p:txBody>
      </p:sp>
      <p:sp>
        <p:nvSpPr>
          <p:cNvPr id="10" name="Text 6"/>
          <p:cNvSpPr/>
          <p:nvPr/>
        </p:nvSpPr>
        <p:spPr>
          <a:xfrm>
            <a:off x="2971800" y="5468112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131.3M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044952" y="5943600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fare rows processed</a:t>
            </a:r>
            <a:endParaRPr lang="en-US" sz="770" dirty="0"/>
          </a:p>
        </p:txBody>
      </p:sp>
      <p:sp>
        <p:nvSpPr>
          <p:cNvPr id="12" name="Text 8"/>
          <p:cNvSpPr/>
          <p:nvPr/>
        </p:nvSpPr>
        <p:spPr>
          <a:xfrm>
            <a:off x="7040880" y="5504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E3D"/>
                </a:solidFill>
              </a:rPr>
              <a:t>For the demo, fare is a historical estimate, not a live airline price.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Weather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Weather data was analyzed alongside flight delays to identify disruption patterns.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WEATHER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1508760"/>
          <a:ext cx="51206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720840" y="1600200"/>
          <a:ext cx="43434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68680" y="5504688"/>
            <a:ext cx="105156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80" dirty="0">
                <a:solidFill>
                  <a:srgbClr val="1F2933"/>
                </a:solidFill>
              </a:rPr>
              <a:t>Weather risk was summarized by origin airport and month.</a:t>
            </a:r>
            <a:endParaRPr lang="en-US" sz="1080" dirty="0"/>
          </a:p>
          <a:p>
            <a:r>
              <a:rPr lang="en-US" sz="1080" dirty="0">
                <a:solidFill>
                  <a:srgbClr val="1F2933"/>
                </a:solidFill>
              </a:rPr>
              <a:t>Delay causes show that weather is one factor in a broader operational delay system.</a:t>
            </a:r>
            <a:endParaRPr lang="en-US" sz="1080" dirty="0"/>
          </a:p>
          <a:p>
            <a:r>
              <a:rPr lang="en-US" sz="1080" dirty="0">
                <a:solidFill>
                  <a:srgbClr val="1F2933"/>
                </a:solidFill>
              </a:rPr>
              <a:t>The app surfaces weather risk when the selected origin has historically high weather delays.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Machine Learning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Spark ML was used to build delay and fare prediction models from engineered historical features.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GBT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8952" y="1956816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delay model algorithm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26.76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62072" y="1956816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delay RMSE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4892040" y="1481328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B8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14.92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65192" y="1956816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delay MAE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6995160" y="1481328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B4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0.1132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68312" y="1956816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delay R²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9098280" y="1481328"/>
            <a:ext cx="219456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455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+0.0957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71432" y="1956816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R² improvement over baseline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20806" y="2485229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</a:rPr>
              <a:t>Feature engineering used: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2805269"/>
            <a:ext cx="10149378" cy="333035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r>
              <a:rPr lang="en-US" sz="1600" dirty="0">
                <a:solidFill>
                  <a:srgbClr val="1F2933"/>
                </a:solidFill>
              </a:rPr>
              <a:t>Goal:</a:t>
            </a:r>
          </a:p>
          <a:p>
            <a:r>
              <a:rPr lang="en-US" sz="1600" dirty="0">
                <a:solidFill>
                  <a:srgbClr val="1F2933"/>
                </a:solidFill>
              </a:rPr>
              <a:t>Predict expected flight departure delay using historical flight, airport, carrier, route, time, and weather-related features.</a:t>
            </a:r>
          </a:p>
          <a:p>
            <a:endParaRPr lang="en-US" sz="1600" dirty="0">
              <a:solidFill>
                <a:srgbClr val="1F2933"/>
              </a:solidFill>
            </a:endParaRPr>
          </a:p>
          <a:p>
            <a:r>
              <a:rPr lang="en-US" sz="1600" dirty="0">
                <a:solidFill>
                  <a:srgbClr val="1F2933"/>
                </a:solidFill>
              </a:rPr>
              <a:t>Feature Engineering: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Extracted time-based features: month, day of week, departure hour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Created travel-pattern flags: weekend, summer, winter, holiday season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Encoded categorical variables: carrier, origin airport, destination airport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Added route and airport history: origin delay, destination delay, route delay, carrier-route delay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Included operational features such as distance and scheduled elapsed time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Added weather-delay signal to capture weather-related disruption risk</a:t>
            </a:r>
          </a:p>
          <a:p>
            <a:endParaRPr lang="en-US" sz="1600" dirty="0">
              <a:solidFill>
                <a:srgbClr val="1F2933"/>
              </a:solidFill>
            </a:endParaRPr>
          </a:p>
          <a:p>
            <a:r>
              <a:rPr lang="en-US" sz="1600" dirty="0">
                <a:solidFill>
                  <a:srgbClr val="1F2933"/>
                </a:solidFill>
              </a:rPr>
              <a:t>Modeling Approach: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Used </a:t>
            </a:r>
            <a:r>
              <a:rPr lang="en-US" sz="1600" dirty="0" err="1">
                <a:solidFill>
                  <a:srgbClr val="1F2933"/>
                </a:solidFill>
              </a:rPr>
              <a:t>PySpark</a:t>
            </a:r>
            <a:r>
              <a:rPr lang="en-US" sz="1600" dirty="0">
                <a:solidFill>
                  <a:srgbClr val="1F2933"/>
                </a:solidFill>
              </a:rPr>
              <a:t> ML pipeline for scalable processing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Trained delay prediction models on large historical flight records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Saved processed outputs and model results for use in the web app</a:t>
            </a:r>
          </a:p>
          <a:p>
            <a:r>
              <a:rPr lang="en-US" sz="1600" dirty="0">
                <a:solidFill>
                  <a:srgbClr val="1F2933"/>
                </a:solidFill>
              </a:rPr>
              <a:t>• Web app uses generated results instead of rerunning the full 21.2GB pipeline live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Graph/Network Analysis and </a:t>
            </a:r>
            <a:r>
              <a:rPr lang="en-US" sz="2600" b="1" dirty="0" err="1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Results.json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Route nodes and edges became a compact web-app data layer.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APP DATA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14600" y="2852928"/>
            <a:ext cx="54864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74920" y="2852928"/>
            <a:ext cx="54864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35240" y="2852928"/>
            <a:ext cx="548640" cy="0"/>
          </a:xfrm>
          <a:prstGeom prst="line">
            <a:avLst/>
          </a:prstGeom>
          <a:noFill/>
          <a:ln w="16510">
            <a:solidFill>
              <a:srgbClr val="C65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011680" cy="132588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Airport nodes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traffic · degree · delay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194560"/>
            <a:ext cx="2286000" cy="132588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Route edges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origin → destination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2194560"/>
            <a:ext cx="2377440" cy="132588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Carrier lookup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route-level delay/cancel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2440" y="2194560"/>
            <a:ext cx="2148840" cy="1325880"/>
          </a:xfrm>
          <a:prstGeom prst="rect">
            <a:avLst/>
          </a:prstGeom>
          <a:solidFill>
            <a:srgbClr val="F7E2D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5A3A"/>
                </a:solidFill>
              </a:rPr>
              <a:t>results.json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65A3A"/>
                </a:solidFill>
              </a:rPr>
              <a:t>web app payload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246888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1832" y="4818888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route lookup records in app payload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3657600" y="4343400"/>
            <a:ext cx="242316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B4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30752" y="4818888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busiest routes saved for visualization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6446520" y="4343400"/>
            <a:ext cx="242316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19672" y="4818888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airport nodes in user-selectable network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868680" y="55961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Graph-style analysis helped rank airports by traffic, route connectivity, and network importance instead of looking only at single-airport averages.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demo: SkySense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The demo turns historical analysis into a user-facing flight decision tool.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DEMO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5440680"/>
            <a:ext cx="10332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1F2933"/>
                </a:solidFill>
              </a:rPr>
              <a:t>Run app.py, open localhost, and demo one route end-to-end.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</a:rPr>
              <a:t>Show Search, Overview, Airports, and Trends pages.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</a:rPr>
              <a:t>Explain that the app uses historical aggregates and results.json, not live ticket prices.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D59A7D-D6EE-9D65-2B1A-FAF4BE50C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17" y="1827851"/>
            <a:ext cx="5540865" cy="28815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1BFF2D-9AD7-BFD7-A565-10E78DE84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410" y="1827851"/>
            <a:ext cx="5964990" cy="2821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The project connects airport operations, ticket pricing, and traveler recommendations.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9202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8952" y="1892808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largest traffic hub in the dataset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880360" y="1417320"/>
            <a:ext cx="219456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B4E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53512" y="1892808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highest average fare quarter in current processed output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5349240" y="1417320"/>
            <a:ext cx="23774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 aircraft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892808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largest average delay cause in breakdown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8001000" y="1417320"/>
            <a:ext cx="2834640" cy="438912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B8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Route-specific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74152" y="1892808"/>
            <a:ext cx="2688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756B5E"/>
                </a:solidFill>
              </a:rPr>
              <a:t>carrier history changes the recommendation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914400" y="2971800"/>
            <a:ext cx="996696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High-traffic airports are not always the worst delay airports; delay risk needs its own ranking.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Fare patterns are seasonal and airport-dependent, so quarter and airport both matter.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Weather is important, but carrier and late-aircraft delay patterns can be stronger signals in delay breakdowns.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A clean recommendation requires combining delay, cancellation, fare, and route-history signals.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 and issues faced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The biggest challenge was making a large Spark project dependable enough to demo.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ISSUES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54864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The full dataset was too large for a normal submission package, so sample data and processed outputs were separated from raw data.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Windows Spark setup required stable Java, Hadoop/winutils, and Python 3.11 configuration.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Some fare data needed quality checks because certain files used inconsistent fare units.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Opening HTML directly can block results.json, so Flask app.py was added for a reliable demo.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Some routes do not have direct historical route data; the app handles this with airport-level fallback logic.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6144768"/>
            <a:ext cx="10698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9A8B78"/>
                </a:solidFill>
              </a:rPr>
              <a:t>These are useful to mention because the professor specifically asked for problems and issues faced.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176BD5-161A-A574-AF18-141651F3C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909" y="2427970"/>
            <a:ext cx="4772691" cy="2038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 and final demo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56B5E"/>
                </a:solidFill>
              </a:rPr>
              <a:t>A good big-data project needs both analysis depth and a clean user-facing story.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914400" cy="0"/>
          </a:xfrm>
          <a:prstGeom prst="line">
            <a:avLst/>
          </a:prstGeom>
          <a:noFill/>
          <a:ln w="38100">
            <a:solidFill>
              <a:srgbClr val="C65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72600" y="411480"/>
            <a:ext cx="2286000" cy="301752"/>
          </a:xfrm>
          <a:prstGeom prst="rect">
            <a:avLst/>
          </a:prstGeom>
          <a:solidFill>
            <a:srgbClr val="F7E2D7"/>
          </a:solidFill>
          <a:ln w="8890">
            <a:solidFill>
              <a:srgbClr val="E6B7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A3A"/>
                </a:solidFill>
              </a:rPr>
              <a:t>CLOSE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325879"/>
            <a:ext cx="5715000" cy="358444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Spark is best used for the heavy transformations; the web app should stay lightweight.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Processed outputs and JSON are a clean bridge between big-data analysis and frontend demo.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Data cleaning and assumptions matter as much as the model itself.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3"/>
                </a:solidFill>
              </a:rPr>
              <a:t>The final story should be user-centered: expected delay, fare estimate, risk, and final advice.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9476" y="2400300"/>
            <a:ext cx="4480560" cy="2057400"/>
          </a:xfrm>
          <a:prstGeom prst="rect">
            <a:avLst/>
          </a:prstGeom>
          <a:solidFill>
            <a:srgbClr val="FFFDF7"/>
          </a:solidFill>
          <a:ln w="10160">
            <a:solidFill>
              <a:srgbClr val="D8C5A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Demo sequence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1. Run app.py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2. Search route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3. Explain result cards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4. Show Overview/Airports/Trends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</a:rPr>
              <a:t>5. Close with lessons learned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6A5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1238</Words>
  <Application>Microsoft Office PowerPoint</Application>
  <PresentationFormat>Widescreen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SkySense Flight Intelligence Platform</dc:title>
  <dc:subject>Flight Airline Industry Predictive Modeling Project</dc:subject>
  <dc:creator>DATA 603 Flight Project Team</dc:creator>
  <cp:lastModifiedBy>Raunaq Singh</cp:lastModifiedBy>
  <cp:revision>5</cp:revision>
  <dcterms:created xsi:type="dcterms:W3CDTF">2026-05-10T22:12:26Z</dcterms:created>
  <dcterms:modified xsi:type="dcterms:W3CDTF">2026-05-14T00:38:11Z</dcterms:modified>
</cp:coreProperties>
</file>